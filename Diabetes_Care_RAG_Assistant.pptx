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47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3E8E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566928" cy="566928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64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CARE RAG ASSISTANT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Colab Notebook to Production App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406908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297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question-answering system over ADA, NIDDK and WHO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guidelines — powered by hybrid search and a local LLM.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 ·   Streamlit UI   ·   Qdrant Hybrid Search   ·   Ollama LLM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question-answering assistant that only speaks from trusted source documents.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291840"/>
            <a:ext cx="22219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generated strictly from retrieved passages — never outside knowledge.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87452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14884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602736" y="283464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02736" y="3291840"/>
            <a:ext cx="22219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dense semantic search with BM25 keyword search, fused for stronger recall.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4496" y="187452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83096" y="214884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455664" y="283464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sources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291840"/>
            <a:ext cx="22219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references the exact source document, organization and page it came from.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07424" y="187452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36024" y="2148840"/>
            <a:ext cx="502920" cy="5029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9308592" y="283464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chat UI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8592" y="3291840"/>
            <a:ext cx="22219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just type a question in Streamlit and get an answer with expandable citations.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ingestion builds the index; the app serves questions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8FC7B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084832" y="2148840"/>
            <a:ext cx="3694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4250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3E8E88"/>
          </a:solidFill>
          <a:ln/>
        </p:spPr>
      </p:sp>
      <p:sp>
        <p:nvSpPr>
          <p:cNvPr id="10" name="Text 8"/>
          <p:cNvSpPr/>
          <p:nvPr/>
        </p:nvSpPr>
        <p:spPr>
          <a:xfrm>
            <a:off x="2454250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90442" y="2148840"/>
            <a:ext cx="3694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59859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3E8E88"/>
          </a:solidFill>
          <a:ln/>
        </p:spPr>
      </p:sp>
      <p:sp>
        <p:nvSpPr>
          <p:cNvPr id="13" name="Text 11"/>
          <p:cNvSpPr/>
          <p:nvPr/>
        </p:nvSpPr>
        <p:spPr>
          <a:xfrm>
            <a:off x="4359859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96051" y="2148840"/>
            <a:ext cx="3694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5469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3E8E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5469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01661" y="2148840"/>
            <a:ext cx="3694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1078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3E8E88"/>
          </a:solidFill>
          <a:ln/>
        </p:spPr>
      </p:sp>
      <p:sp>
        <p:nvSpPr>
          <p:cNvPr id="19" name="Text 17"/>
          <p:cNvSpPr/>
          <p:nvPr/>
        </p:nvSpPr>
        <p:spPr>
          <a:xfrm>
            <a:off x="8171078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07270" y="2148840"/>
            <a:ext cx="36941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76688" y="214884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6688" y="2148840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18013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INGESTION  (run once, or whenever source PDFs change)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0E2F3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9476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3E8E88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/query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402336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3E8E88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+ BM25)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287000" y="402336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402336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4023360"/>
            <a:ext cx="868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72200" y="4023360"/>
            <a:ext cx="868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418320" y="4023360"/>
            <a:ext cx="868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" y="36758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(on every user question)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rows share one Qdrant collection: ingestion writes it offline, and every user question reads from it at query time.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focused phases turn messy PDF layouts into clean, searchable chunks.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38728" cy="39319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508760" y="210312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487168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src/ingestion/extract.py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3017520"/>
            <a:ext cx="30266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text extraction with PyMuPDF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multi-column pages automatically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correct top-to-bottom, left-to-right reading order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0248" y="1828800"/>
            <a:ext cx="3538728" cy="39319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103120"/>
            <a:ext cx="548640" cy="5486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230368" y="210312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30368" y="2487168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src/ingestion/clean.py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0266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standalone page numbers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line-break hyphenation (hypo-\nglycemia → hypoglycemia)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repeated headers/footers across pages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organization, title &amp; page metadata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91856" y="1828800"/>
            <a:ext cx="3538728" cy="393192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951976" y="2103120"/>
            <a:ext cx="2350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51976" y="2487168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src/ingestion/chunk.py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47888" y="3017520"/>
            <a:ext cx="30266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Paragraph-aware splitting, ~1,200 characters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sentence-level splits for long paragraphs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200-character overlap between chunks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chunk_id for traceability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&amp; Hybrid Retrieval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search signals, fused into one ranked result.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12080" cy="3886200"/>
          </a:xfrm>
          <a:prstGeom prst="roundRect">
            <a:avLst>
              <a:gd name="adj" fmla="val 2353"/>
            </a:avLst>
          </a:prstGeom>
          <a:solidFill>
            <a:srgbClr val="0E2F35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semantic 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BAAI/bge-base-en-v1.5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meaning, not just exact words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cosine-similarity vectors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D9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paraphrased or conceptual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874520"/>
            <a:ext cx="521208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94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94944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keyword search (BM25)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Qdrant/bm25 (FastEmbed)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exact term matches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clinical terms &amp; acronyms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dense search's blind spots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58064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5806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with RRF in Qdrant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typed HTTP layer over the RAG pipeline — backend/main.py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8FC7B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readiness — whether the Qdrant index has been built yet, so the UI can show a clear status.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76200" dist="25400" dir="5400000" algn="bl" rotWithShape="0">
              <a:srgbClr val="1B2E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240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question (+ optional top_k), runs hybrid search and the LLM, and returns a grounded answer with its sources.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0607040" cy="1920240"/>
          </a:xfrm>
          <a:prstGeom prst="roundRect">
            <a:avLst>
              <a:gd name="adj" fmla="val 3810"/>
            </a:avLst>
          </a:prstGeom>
          <a:solidFill>
            <a:srgbClr val="0E2F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"question": "What are the glycemic goals for adults?", "top_k": 3 }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"answer": "…grounded answer citing [1], [2]…",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"sources": [ { "document_title": "...", "organization": "ADA", "page": 12, "score": 0.83 } ] 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Chat Experience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frontend/app.py — a clean, focused chat UI in front of the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0408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5400">
            <a:solidFill>
              <a:srgbClr val="8FC7B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03320" y="3223260"/>
            <a:ext cx="731520" cy="731520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32232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548640" y="40462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Streamlit UI screenshot 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4759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16:9 screenshot of the chat view with an answer and sources expanded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18120" y="1691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chat input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0" y="19933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type a question — no forms, no jargon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818120" y="272491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Expandable sources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30266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shows the exact passages it used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818120" y="375818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 top_k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0" y="405993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slider controls how many sources to retrieve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818120" y="47914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4791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7640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status pill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12480" y="50932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whether the API and index are ready</a:t>
            </a:r>
            <a:endParaRPr lang="en-US" sz="108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E9B4C14-3AC4-4682-8180-B655A031B4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246"/>
          <a:stretch/>
        </p:blipFill>
        <p:spPr>
          <a:xfrm>
            <a:off x="560667" y="1984248"/>
            <a:ext cx="7016826" cy="3758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RAG Assistant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app, top to bottom.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75688"/>
            <a:ext cx="146304" cy="14630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0253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&amp; source display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0420" y="187452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9020" y="207568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817620" y="200253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89020" y="233172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89020" y="286207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HTTP endpoints, CORS-ready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075688"/>
            <a:ext cx="146304" cy="14630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00253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PyMuPDF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286207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PDF parsing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83980" y="187452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12580" y="207568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441180" y="200253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12580" y="233172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bge-base-en-v1.5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12580" y="286207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399592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92277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EMBED.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" y="425196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FastEmbed BM25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77240" y="478231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Keyword-precise 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0420" y="379476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89020" y="3995928"/>
            <a:ext cx="146304" cy="14630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33" name="Text 31"/>
          <p:cNvSpPr/>
          <p:nvPr/>
        </p:nvSpPr>
        <p:spPr>
          <a:xfrm>
            <a:off x="3817620" y="392277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89020" y="425196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(embedded)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589020" y="478231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RRF fusion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79476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399592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92277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425196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· phi3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400800" y="478231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grounded generation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83980" y="3794760"/>
            <a:ext cx="26289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7E4"/>
            </a:solidFill>
            <a:prstDash val="solid"/>
          </a:ln>
          <a:effectLst>
            <a:outerShdw blurRad="63500" dist="25400" dir="5400000" algn="bl" rotWithShape="0">
              <a:srgbClr val="1B2E2C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12580" y="3995928"/>
            <a:ext cx="146304" cy="146304"/>
          </a:xfrm>
          <a:prstGeom prst="ellipse">
            <a:avLst/>
          </a:prstGeom>
          <a:solidFill>
            <a:srgbClr val="3E8E88"/>
          </a:solidFill>
          <a:ln/>
        </p:spPr>
      </p:sp>
      <p:sp>
        <p:nvSpPr>
          <p:cNvPr id="43" name="Text 41"/>
          <p:cNvSpPr/>
          <p:nvPr/>
        </p:nvSpPr>
        <p:spPr>
          <a:xfrm>
            <a:off x="9441180" y="3922776"/>
            <a:ext cx="2034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212580" y="4251960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2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212580" y="4782312"/>
            <a:ext cx="22631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3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3E8E8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 from a fresh clone to a working chat assistant.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Shape 5"/>
          <p:cNvSpPr/>
          <p:nvPr/>
        </p:nvSpPr>
        <p:spPr>
          <a:xfrm>
            <a:off x="1371600" y="1920240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163E45"/>
          </a:solidFill>
          <a:ln/>
        </p:spPr>
      </p:sp>
      <p:sp>
        <p:nvSpPr>
          <p:cNvPr id="8" name="Text 6"/>
          <p:cNvSpPr/>
          <p:nvPr/>
        </p:nvSpPr>
        <p:spPr>
          <a:xfrm>
            <a:off x="1572768" y="1920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2331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pull an Ollama model (e.g. phi3)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99008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1371600" y="2944368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163E45"/>
          </a:solidFill>
          <a:ln/>
        </p:spPr>
      </p:sp>
      <p:sp>
        <p:nvSpPr>
          <p:cNvPr id="13" name="Text 11"/>
          <p:cNvSpPr/>
          <p:nvPr/>
        </p:nvSpPr>
        <p:spPr>
          <a:xfrm>
            <a:off x="1572768" y="2944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scripts/run_ingestion.py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33558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clean → chunk the PDFs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01421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14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1371600" y="3968496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163E45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39684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scripts/build_index.py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37997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chunks &amp; build the Qdrant index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503834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038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1371600" y="4992624"/>
            <a:ext cx="9966960" cy="777240"/>
          </a:xfrm>
          <a:prstGeom prst="roundRect">
            <a:avLst>
              <a:gd name="adj" fmla="val 7059"/>
            </a:avLst>
          </a:prstGeom>
          <a:solidFill>
            <a:srgbClr val="163E45"/>
          </a:solidFill>
          <a:ln/>
        </p:spPr>
      </p:sp>
      <p:sp>
        <p:nvSpPr>
          <p:cNvPr id="23" name="Text 21"/>
          <p:cNvSpPr/>
          <p:nvPr/>
        </p:nvSpPr>
        <p:spPr>
          <a:xfrm>
            <a:off x="1572768" y="499262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backend.main:app  +  streamlit run frontend/app.py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72768" y="54041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API, then the chat UI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setup, configuration and API reference are in README.md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Widescreen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مرام حازم فؤاد اسماعيل احمد</cp:lastModifiedBy>
  <cp:revision>2</cp:revision>
  <dcterms:created xsi:type="dcterms:W3CDTF">2026-09-22T23:33:37Z</dcterms:created>
  <dcterms:modified xsi:type="dcterms:W3CDTF">2026-09-23T01:05:38Z</dcterms:modified>
</cp:coreProperties>
</file>